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64008" cy="5084064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28600"/>
            <a:ext cx="1280160" cy="457200"/>
          </a:xfrm>
          <a:prstGeom prst="roundRect">
            <a:avLst>
              <a:gd name="adj" fmla="val 24000"/>
            </a:avLst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286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LOOPS &amp; SERIAL PORT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" y="175564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through the PIR Motion Sensor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239572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with ESP32 &amp; Python  |  Grade 8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2944368"/>
            <a:ext cx="2560320" cy="438912"/>
          </a:xfrm>
          <a:prstGeom prst="roundRect">
            <a:avLst>
              <a:gd name="adj" fmla="val 20833"/>
            </a:avLst>
          </a:prstGeom>
          <a:solidFill>
            <a:srgbClr val="162032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94436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While Loops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54680" y="2944368"/>
            <a:ext cx="2560320" cy="438912"/>
          </a:xfrm>
          <a:prstGeom prst="roundRect">
            <a:avLst>
              <a:gd name="adj" fmla="val 20833"/>
            </a:avLst>
          </a:prstGeom>
          <a:solidFill>
            <a:srgbClr val="162032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294436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For Loops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89320" y="2944368"/>
            <a:ext cx="2560320" cy="438912"/>
          </a:xfrm>
          <a:prstGeom prst="roundRect">
            <a:avLst>
              <a:gd name="adj" fmla="val 20833"/>
            </a:avLst>
          </a:prstGeom>
          <a:solidFill>
            <a:srgbClr val="162032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294436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Serial Port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3511296"/>
            <a:ext cx="2560320" cy="438912"/>
          </a:xfrm>
          <a:prstGeom prst="roundRect">
            <a:avLst>
              <a:gd name="adj" fmla="val 20833"/>
            </a:avLst>
          </a:prstGeom>
          <a:solidFill>
            <a:srgbClr val="162032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511296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String Methods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154680" y="3511296"/>
            <a:ext cx="2560320" cy="438912"/>
          </a:xfrm>
          <a:prstGeom prst="roundRect">
            <a:avLst>
              <a:gd name="adj" fmla="val 20833"/>
            </a:avLst>
          </a:prstGeom>
          <a:solidFill>
            <a:srgbClr val="162032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3511296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Try / Except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89320" y="3511296"/>
            <a:ext cx="2560320" cy="438912"/>
          </a:xfrm>
          <a:prstGeom prst="roundRect">
            <a:avLst>
              <a:gd name="adj" fmla="val 20833"/>
            </a:avLst>
          </a:prstGeom>
          <a:solidFill>
            <a:srgbClr val="162032"/>
          </a:solidFill>
          <a:ln w="19050">
            <a:solidFill>
              <a:srgbClr val="7B2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3511296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Auto Port Detection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" y="42062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sensor data forever. Loop, listen, label, repeat.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1 RECAP + WHAT WE BUILD TODAY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week: Python basics. This week: use them to read LIVE motion sensor data in a continuous loop!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23360" cy="2103120"/>
          </a:xfrm>
          <a:prstGeom prst="rect">
            <a:avLst/>
          </a:prstGeom>
          <a:solidFill>
            <a:srgbClr val="162032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— Week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Variables  lux = 48.5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Data types  int, float, str, bool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Print  print(f"{lux} lx")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If / else  Bright / Medium / Dark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69748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Imports  import serial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97180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Comparisons  lux &gt; 80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1097280"/>
            <a:ext cx="4206240" cy="2103120"/>
          </a:xfrm>
          <a:prstGeom prst="rect">
            <a:avLst/>
          </a:prstGeom>
          <a:solidFill>
            <a:srgbClr val="162032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188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— Week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160020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 while True  loop forever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18745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 for loop  loop a set number of times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14884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 ser.readline()  read from ESP32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42316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 line.split()  extract the value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269748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 line.strip()  clean up whitespace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297180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 try/except  handle errors safely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310128"/>
            <a:ext cx="8503920" cy="1508760"/>
          </a:xfrm>
          <a:prstGeom prst="rect">
            <a:avLst/>
          </a:prstGeom>
          <a:solidFill>
            <a:srgbClr val="162032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4015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 today — Live PIR Motion Console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767328"/>
            <a:ext cx="8229600" cy="1463040"/>
          </a:xfrm>
          <a:prstGeom prst="rect">
            <a:avLst/>
          </a:prstGeom>
          <a:solidFill>
            <a:srgbClr val="0A1628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840480"/>
            <a:ext cx="8010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Looking for ESP32...   Found ESP32 on COM5   Reading PIR data... Press Ctrl+C to stop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6928" y="4160520"/>
            <a:ext cx="8010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         Score      Status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" y="4480560"/>
            <a:ext cx="8010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18:25:10     45         Motion Detected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6928" y="4800600"/>
            <a:ext cx="8010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18:25:11     0          No Motion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Week 2 ADDS to Week 1. You already know variables and if/else — now we loop forever!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 1 — WHILE LOOPS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while loop keeps running AS LONG AS a condition is True. while True means run forever — never stop!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23360" cy="1417320"/>
          </a:xfrm>
          <a:prstGeom prst="rect">
            <a:avLst/>
          </a:prstGeom>
          <a:solidFill>
            <a:srgbClr val="162032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Guard Analogy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guard does NOT check the door once then go home. They check continuously — all day in a loop.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while True loop IS the security guard. It reads the sensor, prints the result, then immediately loops back to check again.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633472"/>
            <a:ext cx="4023360" cy="1325880"/>
          </a:xfrm>
          <a:prstGeom prst="rect">
            <a:avLst/>
          </a:prstGeom>
          <a:solidFill>
            <a:srgbClr val="162032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249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 while True for sensors: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09067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loop, Python reads ONE line then STOPS. But the sensor keeps sending data every 100ms! We need while True to keep reading forever — until you press Ctrl+C.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7720" y="10972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 — 3 forms you need to know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17720" y="1444752"/>
            <a:ext cx="4206240" cy="4343400"/>
          </a:xfrm>
          <a:prstGeom prst="rect">
            <a:avLst/>
          </a:prstGeom>
          <a:solidFill>
            <a:srgbClr val="0A1628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151790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Form 1: Loop forever (most common)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27448" y="183794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27448" y="215798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print("Still running!")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27448" y="247802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27448" y="279806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Form 2: Loop while condition is True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27448" y="311810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27448" y="343814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count &lt; 10: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27448" y="375818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 = count + 1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27448" y="407822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27448" y="439826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Form 3: Stop with break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27448" y="471830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27448" y="503834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score &gt; 100: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27448" y="535838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  # exit the loop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4069080"/>
            <a:ext cx="850392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1330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 RULE: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48840" y="4133088"/>
            <a:ext cx="6492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INSIDE the while loop must be indented 4 spaces. Without indentation Python gives an IndentationError!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stop a while True loop: press Ctrl+C in the terminal. Python will stop immediately and cleanly.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 2 — FOR LOOPS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 loop runs a FIXED number of times. Perfect for scanning a list — like all COM ports to find ESP32!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23360" cy="1481328"/>
          </a:xfrm>
          <a:prstGeom prst="rect">
            <a:avLst/>
          </a:prstGeom>
          <a:solidFill>
            <a:srgbClr val="162032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vs For — when to use each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749040" cy="219456"/>
          </a:xfrm>
          <a:prstGeom prst="rect">
            <a:avLst/>
          </a:prstGeom>
          <a:solidFill>
            <a:srgbClr val="0A1220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7276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965960" y="157276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sensor forever — no end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801368"/>
            <a:ext cx="3749040" cy="219456"/>
          </a:xfrm>
          <a:prstGeom prst="rect">
            <a:avLst/>
          </a:prstGeom>
          <a:solidFill>
            <a:srgbClr val="0A1220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1965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x &lt; 10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965960" y="1819656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until condition is False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048256"/>
            <a:ext cx="3749040" cy="219456"/>
          </a:xfrm>
          <a:prstGeom prst="rect">
            <a:avLst/>
          </a:prstGeom>
          <a:solidFill>
            <a:srgbClr val="0A1220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066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item in list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965960" y="2066544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through every item in list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295144"/>
            <a:ext cx="3749040" cy="219456"/>
          </a:xfrm>
          <a:prstGeom prst="rect">
            <a:avLst/>
          </a:prstGeom>
          <a:solidFill>
            <a:srgbClr val="0A1220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3134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range(5)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965960" y="231343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exactly 5 times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697480"/>
            <a:ext cx="4023360" cy="1371600"/>
          </a:xfrm>
          <a:prstGeom prst="rect">
            <a:avLst/>
          </a:prstGeom>
          <a:solidFill>
            <a:srgbClr val="162032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788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 in our PIR sensor code: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1546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a for loop to scan ALL connected COM ports and find the ESP32. The loop checks every port one by one until it finds the CH340 USB chip name.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17720" y="10972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loops with our sensor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17720" y="1444752"/>
            <a:ext cx="4206240" cy="4983480"/>
          </a:xfrm>
          <a:prstGeom prst="rect">
            <a:avLst/>
          </a:prstGeom>
          <a:solidFill>
            <a:srgbClr val="0A1628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27448" y="151790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Find ESP32 — loop through all ports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27448" y="183794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= None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27448" y="215798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port in list_ports.comports():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27448" y="247802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"CH340" in port.description: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27448" y="279806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PORT = port.device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27448" y="311810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27448" y="343814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Loop through a list of readings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27448" y="375818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readings = [45, 0, 72, 0, 88]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27448" y="407822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score in readings: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27448" y="439826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score &gt; 0: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27448" y="471830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print("Motion:", score)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27448" y="503834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27448" y="535838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Loop exactly 10 times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727448" y="567842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range(10):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27448" y="599846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print("Reading number:", i+1)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20040" y="4160520"/>
            <a:ext cx="8503920" cy="475488"/>
          </a:xfrm>
          <a:prstGeom prst="rect">
            <a:avLst/>
          </a:prstGeom>
          <a:solidFill>
            <a:srgbClr val="162032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2245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DIFFERENCE: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965960" y="4224528"/>
            <a:ext cx="6720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True runs FOREVER until stopped.  for loop runs a FIXED number of times then stops automatically.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sensor code: for loop finds the port ONCE, then while True reads data FOREVER. Both work together!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 3 — SERIAL PORT &amp; readline()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serial port is the USB connection between Python and ESP32. readline() picks up one line at a time.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23360" cy="1417320"/>
          </a:xfrm>
          <a:prstGeom prst="rect">
            <a:avLst/>
          </a:prstGeom>
          <a:solidFill>
            <a:srgbClr val="162032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Radio Analogy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7490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serial.Serial(PORT, 9600) is like tuning your radio to a specific station.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= "COM5" is the station.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9600 = baud rate = speed of data.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readline() = waiting to hear the next sentence from ESP32.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633472"/>
            <a:ext cx="4023360" cy="1371600"/>
          </a:xfrm>
          <a:prstGeom prst="rect">
            <a:avLst/>
          </a:prstGeom>
          <a:solidFill>
            <a:srgbClr val="162032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249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Baud Rate (9600)?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09067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Arduino and Python must use the SAME baud rate or nothing works.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Arduino:  Serial.begin(9600)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  serial.Serial(PORT, 9600)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must match exactly. 9600 = 9600!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7720" y="10972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port in Python — step by step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17720" y="1444752"/>
            <a:ext cx="4206240" cy="5303520"/>
          </a:xfrm>
          <a:prstGeom prst="rect">
            <a:avLst/>
          </a:prstGeom>
          <a:solidFill>
            <a:srgbClr val="0A1628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151790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serial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27448" y="183794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serial.tools.list_ports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27448" y="215798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27448" y="247802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Find the port automatically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27448" y="279806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= None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27448" y="311810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port in list_ports.comports():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27448" y="343814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"CH340" in port.description: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27448" y="375818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PORT = port.device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27448" y="407822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27448" y="439826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Open the connection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27448" y="471830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 = serial.Serial(PORT, 9600, timeout=1)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27448" y="503834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27448" y="535838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Read one line at a time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27448" y="567842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27448" y="599846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line = ser.readline()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27448" y="631850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line is raw bytes — decode next!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4133088"/>
            <a:ext cx="8503920" cy="502920"/>
          </a:xfrm>
          <a:prstGeom prst="rect">
            <a:avLst/>
          </a:prstGeom>
          <a:solidFill>
            <a:srgbClr val="16203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2062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readline() returns BYTES not text!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063240" y="4206240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decode it: line = ser.readline().decode("utf-8", errors="ignore").strip()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Close Arduino IDE Serial Monitor BEFORE running Python — only ONE program can use COM5 at a time!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 4 — STRING METHODS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methods extract, clean and transform text. Essential for reading sensor data from the serial port.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114800" cy="1810512"/>
          </a:xfrm>
          <a:prstGeom prst="rect">
            <a:avLst/>
          </a:prstGeom>
          <a:solidFill>
            <a:srgbClr val="162032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70432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7043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Decode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61288" y="118872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.decode("utf-8", errors="ignore")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bytes to readable text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56232"/>
            <a:ext cx="3840480" cy="914400"/>
          </a:xfrm>
          <a:prstGeom prst="rect">
            <a:avLst/>
          </a:prstGeom>
          <a:solidFill>
            <a:srgbClr val="0A1220"/>
          </a:solidFill>
          <a:ln w="6350">
            <a:solidFill>
              <a:srgbClr val="00C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0195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= ser.readline()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24942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= raw.decode("utf-8", errors="ignore")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27448" y="1078992"/>
            <a:ext cx="4114800" cy="1810512"/>
          </a:xfrm>
          <a:prstGeom prst="rect">
            <a:avLst/>
          </a:prstGeom>
          <a:solidFill>
            <a:srgbClr val="162032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64608" y="1170432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17043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68696" y="118872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.strip()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64608" y="1554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whitespace and newlines at ends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64608" y="1856232"/>
            <a:ext cx="3840480" cy="914400"/>
          </a:xfrm>
          <a:prstGeom prst="rect">
            <a:avLst/>
          </a:prstGeom>
          <a:solidFill>
            <a:srgbClr val="0A1220"/>
          </a:solidFill>
          <a:ln w="6350">
            <a:solidFill>
              <a:srgbClr val="00E6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190195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= "  48.5\n  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56048" y="224942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= line.strip()  # becomes "48.5"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017520"/>
            <a:ext cx="4114800" cy="1810512"/>
          </a:xfrm>
          <a:prstGeom prst="rect">
            <a:avLst/>
          </a:prstGeom>
          <a:solidFill>
            <a:srgbClr val="162032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108960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10896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Split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61288" y="312724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.split(":")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4930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text at a character into a list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794760"/>
            <a:ext cx="3840480" cy="914400"/>
          </a:xfrm>
          <a:prstGeom prst="rect">
            <a:avLst/>
          </a:prstGeom>
          <a:solidFill>
            <a:srgbClr val="0A1220"/>
          </a:solidFill>
          <a:ln w="6350">
            <a:solidFill>
              <a:srgbClr val="FFD7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84048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= "Motion: 45"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418795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parts = line.split(":")  # ["Motion"," 45"]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27448" y="3017520"/>
            <a:ext cx="4114800" cy="1810512"/>
          </a:xfrm>
          <a:prstGeom prst="rect">
            <a:avLst/>
          </a:prstGeom>
          <a:solidFill>
            <a:srgbClr val="162032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64608" y="3108960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310896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68696" y="312724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"text" in line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64608" y="34930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text exists inside string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64608" y="3794760"/>
            <a:ext cx="3840480" cy="914400"/>
          </a:xfrm>
          <a:prstGeom prst="rect">
            <a:avLst/>
          </a:prstGeom>
          <a:solidFill>
            <a:srgbClr val="0A1220"/>
          </a:solidFill>
          <a:ln w="6350">
            <a:solidFill>
              <a:srgbClr val="FF9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56048" y="384048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"Motion" in line: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56048" y="418795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only runs on motion lines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them all: line = ser.readline().decode("utf-8", errors="ignore").strip()  — one clean line!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 5 — TRY / EXCEPT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sensor data is messy. try/except catches errors so your program keeps running instead of crashing!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23360" cy="1444752"/>
          </a:xfrm>
          <a:prstGeom prst="rect">
            <a:avLst/>
          </a:prstGeom>
          <a:solidFill>
            <a:srgbClr val="16203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Without try/except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17904"/>
            <a:ext cx="3749040" cy="1143000"/>
          </a:xfrm>
          <a:prstGeom prst="rect">
            <a:avLst/>
          </a:prstGeom>
          <a:solidFill>
            <a:srgbClr val="0A1628"/>
          </a:solidFill>
          <a:ln w="19050">
            <a:solidFill>
              <a:srgbClr val="FF52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591056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= ""  # empty line from ESP32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1911096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= int(line)  # CRASH!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2231136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ValueError: invalid literal for int()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670048"/>
            <a:ext cx="4023360" cy="1389888"/>
          </a:xfrm>
          <a:prstGeom prst="rect">
            <a:avLst/>
          </a:prstGeom>
          <a:solidFill>
            <a:srgbClr val="162032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614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— With try/except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090672"/>
            <a:ext cx="3749040" cy="1463040"/>
          </a:xfrm>
          <a:prstGeom prst="rect">
            <a:avLst/>
          </a:prstGeom>
          <a:solidFill>
            <a:srgbClr val="0A1628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163824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3483864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 = int(line)  # attempt this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3803904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4123944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  # skip bad lines silently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17720" y="10972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 — all the forms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17720" y="1444752"/>
            <a:ext cx="4206240" cy="5623560"/>
          </a:xfrm>
          <a:prstGeom prst="rect">
            <a:avLst/>
          </a:prstGeom>
          <a:solidFill>
            <a:srgbClr val="0A1628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27448" y="151790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Basic — catch any error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27448" y="183794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27448" y="215798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 = int(line)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27448" y="247802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27448" y="279806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27448" y="311810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27448" y="343814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Specific — catch exact error type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27448" y="375818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27448" y="407822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 = float(line.split(":")[1])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27448" y="439826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ValueError: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27448" y="471830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print("Bad line — skipping")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27448" y="503834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27448" y="535838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else — runs only if no error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27448" y="567842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27448" y="599846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 = int(line)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27448" y="631850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except: pass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27448" y="663854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 print("Success:", value)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0040" y="4160520"/>
            <a:ext cx="8503920" cy="475488"/>
          </a:xfrm>
          <a:prstGeom prst="rect">
            <a:avLst/>
          </a:prstGeom>
          <a:solidFill>
            <a:srgbClr val="162032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2245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try/except: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331720" y="4224528"/>
            <a:ext cx="6309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text to number  |  Reading files  |  Connecting to hardware  |  Any real-world data operation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means do nothing and move on. It is the polite way to skip a bad reading without crashing the whole program!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PUTTING IT ALL TOGETHER — THE PIR MOTION SCRIPT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concept from Week 1 AND Week 2 is in this real script. Every line has a job.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572000" cy="8823960"/>
          </a:xfrm>
          <a:prstGeom prst="rect">
            <a:avLst/>
          </a:prstGeom>
          <a:solidFill>
            <a:srgbClr val="0A1628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152144"/>
            <a:ext cx="4352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serial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9768" y="1472184"/>
            <a:ext cx="4352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serial.tools.list_ports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9768" y="1792224"/>
            <a:ext cx="4352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datetime import datetime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9768" y="2112264"/>
            <a:ext cx="4352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" y="2432304"/>
            <a:ext cx="4352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BAUD = 9600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9768" y="2752344"/>
            <a:ext cx="4352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9768" y="3072384"/>
            <a:ext cx="4352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= None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9768" y="3392424"/>
            <a:ext cx="4352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port in list_ports.comports():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9768" y="3712464"/>
            <a:ext cx="4352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"CH340" in port.description: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9768" y="4032504"/>
            <a:ext cx="4352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PORT = port.device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9768" y="4352544"/>
            <a:ext cx="4352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29768" y="4672584"/>
            <a:ext cx="4352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 = serial.Serial(PORT, BAUD, timeout=1)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9768" y="4992624"/>
            <a:ext cx="4352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9768" y="5312664"/>
            <a:ext cx="4352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29768" y="5632704"/>
            <a:ext cx="4352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line = ser.readline().decode(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29768" y="5952744"/>
            <a:ext cx="4352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"utf-8", errors="ignore").strip()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9768" y="6272784"/>
            <a:ext cx="4352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line: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9768" y="6592824"/>
            <a:ext cx="4352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9768" y="6912864"/>
            <a:ext cx="4352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score = int(line)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29768" y="7232904"/>
            <a:ext cx="4352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now = datetime.now().strftime("%H:%M:%S")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29768" y="7552944"/>
            <a:ext cx="4352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score &gt; 0: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29768" y="7872984"/>
            <a:ext cx="4352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status = "Motion Detected"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29768" y="8193024"/>
            <a:ext cx="4352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29768" y="8513064"/>
            <a:ext cx="4352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status = "No Motion"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29768" y="8833104"/>
            <a:ext cx="4352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print(f"{now} {score:&lt;10} {status}")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29768" y="9153144"/>
            <a:ext cx="4352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except: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29768" y="9473184"/>
            <a:ext cx="4352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pass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29200" y="1152144"/>
            <a:ext cx="3794760" cy="274320"/>
          </a:xfrm>
          <a:prstGeom prst="rect">
            <a:avLst/>
          </a:prstGeom>
          <a:solidFill>
            <a:srgbClr val="162032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02352" y="1188720"/>
            <a:ext cx="3630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IMPORTS — Week 1: load all libraries at top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0" y="1472184"/>
            <a:ext cx="3794760" cy="274320"/>
          </a:xfrm>
          <a:prstGeom prst="rect">
            <a:avLst/>
          </a:prstGeom>
          <a:solidFill>
            <a:srgbClr val="162032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02352" y="1508760"/>
            <a:ext cx="3630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VARIABLE — Week 1: store baud rate value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0" y="1792224"/>
            <a:ext cx="3794760" cy="27432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02352" y="1828800"/>
            <a:ext cx="3630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 LOOP — Week 2: scan every USB port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29200" y="2112264"/>
            <a:ext cx="3794760" cy="274320"/>
          </a:xfrm>
          <a:prstGeom prst="rect">
            <a:avLst/>
          </a:prstGeom>
          <a:solidFill>
            <a:srgbClr val="162032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02352" y="2148840"/>
            <a:ext cx="3630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SERIAL — Week 2: open COM5 connection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0" y="2432304"/>
            <a:ext cx="3794760" cy="274320"/>
          </a:xfrm>
          <a:prstGeom prst="rect">
            <a:avLst/>
          </a:prstGeom>
          <a:solidFill>
            <a:srgbClr val="162032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02352" y="2468880"/>
            <a:ext cx="3630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WHILE TRUE — Week 2: read sensor forever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029200" y="2752344"/>
            <a:ext cx="3794760" cy="274320"/>
          </a:xfrm>
          <a:prstGeom prst="rect">
            <a:avLst/>
          </a:prstGeom>
          <a:solidFill>
            <a:srgbClr val="1620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02352" y="2788920"/>
            <a:ext cx="3630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STRING METHODS — Week 2: decode + strip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029200" y="3072384"/>
            <a:ext cx="3794760" cy="274320"/>
          </a:xfrm>
          <a:prstGeom prst="rect">
            <a:avLst/>
          </a:prstGeom>
          <a:solidFill>
            <a:srgbClr val="162032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02352" y="3108960"/>
            <a:ext cx="3630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TRY/EXCEPT — Week 2: handle bad lines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029200" y="3392424"/>
            <a:ext cx="3794760" cy="274320"/>
          </a:xfrm>
          <a:prstGeom prst="rect">
            <a:avLst/>
          </a:prstGeom>
          <a:solidFill>
            <a:srgbClr val="162032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02352" y="3429000"/>
            <a:ext cx="3630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IF/ELSE — Week 1: classify motion status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029200" y="3712464"/>
            <a:ext cx="3794760" cy="274320"/>
          </a:xfrm>
          <a:prstGeom prst="rect">
            <a:avLst/>
          </a:prstGeom>
          <a:solidFill>
            <a:srgbClr val="162032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02352" y="3749040"/>
            <a:ext cx="3630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F-STRING PRINT — Week 1: show result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029200" y="4032504"/>
            <a:ext cx="3794760" cy="274320"/>
          </a:xfrm>
          <a:prstGeom prst="rect">
            <a:avLst/>
          </a:prstGeom>
          <a:solidFill>
            <a:srgbClr val="162032"/>
          </a:solidFill>
          <a:ln w="12700">
            <a:solidFill>
              <a:srgbClr val="A0AEC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02352" y="4069080"/>
            <a:ext cx="3630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PASS — Week 2: skip errors silently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script combines ALL of Week 1 + Week 2. Every concept has a job. Nothing is wasted!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2 COMMON ERRORS &amp; FIXES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new errors you will see this week. Read the message carefully — Python always tells you what went wrong!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114800" cy="1810512"/>
          </a:xfrm>
          <a:prstGeom prst="rect">
            <a:avLst/>
          </a:prstGeom>
          <a:solidFill>
            <a:srgbClr val="162032"/>
          </a:solidFill>
          <a:ln w="19050">
            <a:solidFill>
              <a:srgbClr val="FF52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5214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UnicodeDecodeError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"utf-8 codec can't decode byte 0x9e"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ESP32 sends garbage bytes on first connect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933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 errors="ignore" to decode()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67712"/>
            <a:ext cx="3840480" cy="502920"/>
          </a:xfrm>
          <a:prstGeom prst="rect">
            <a:avLst/>
          </a:prstGeom>
          <a:solidFill>
            <a:srgbClr val="0A1628"/>
          </a:solidFill>
          <a:ln w="19050">
            <a:solidFill>
              <a:srgbClr val="FF52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340864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line.decode("utf-8", errors="ignore")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27448" y="1078992"/>
            <a:ext cx="4114800" cy="1810512"/>
          </a:xfrm>
          <a:prstGeom prst="rect">
            <a:avLst/>
          </a:prstGeom>
          <a:solidFill>
            <a:srgbClr val="162032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15214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TypeError: int() argument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64608" y="148132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"must be a string, not NoneType"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64608" y="173736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readline() returned nothing — line is empty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64608" y="19933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Check if line is not empty first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64608" y="2267712"/>
            <a:ext cx="3840480" cy="822960"/>
          </a:xfrm>
          <a:prstGeom prst="rect">
            <a:avLst/>
          </a:prstGeom>
          <a:solidFill>
            <a:srgbClr val="0A1628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74336" y="2340864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line: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74336" y="2660904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= int(line)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017520"/>
            <a:ext cx="4114800" cy="1810512"/>
          </a:xfrm>
          <a:prstGeom prst="rect">
            <a:avLst/>
          </a:prstGeom>
          <a:solidFill>
            <a:srgbClr val="162032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906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AttributeError: NoneType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41985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"NoneType has no attribute 'device'"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67588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ESP32 not found — PORT is still None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9319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Check PORT is not None before using it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206240"/>
            <a:ext cx="3840480" cy="822960"/>
          </a:xfrm>
          <a:prstGeom prst="rect">
            <a:avLst/>
          </a:prstGeom>
          <a:solidFill>
            <a:srgbClr val="0A1628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4279392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PORT: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6928" y="4599432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 = serial.Serial(PORT, 9600)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27448" y="3017520"/>
            <a:ext cx="4114800" cy="1810512"/>
          </a:xfrm>
          <a:prstGeom prst="rect">
            <a:avLst/>
          </a:prstGeom>
          <a:solidFill>
            <a:srgbClr val="162032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30906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ValueError: invalid literal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64608" y="341985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"invalid literal for int(): 'Initializing...'"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64608" y="367588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Trying to convert a word to a number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64608" y="39319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Use try/except to skip non-number lines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64608" y="4206240"/>
            <a:ext cx="3840480" cy="1143000"/>
          </a:xfrm>
          <a:prstGeom prst="rect">
            <a:avLst/>
          </a:prstGeom>
          <a:solidFill>
            <a:srgbClr val="0A1628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74336" y="4279392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74336" y="4599432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= int(line)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974336" y="4919472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except: pass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Week 2 errors come from empty lines or startup messages. Always use try/except and check if line: first!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2 — PRACTICE EXERCISES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exercises in VS Code with the PIR sensor connected. Do them in order!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14800" cy="1810512"/>
          </a:xfrm>
          <a:prstGeom prst="rect">
            <a:avLst/>
          </a:prstGeom>
          <a:solidFill>
            <a:srgbClr val="162032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438912" cy="347472"/>
          </a:xfrm>
          <a:prstGeom prst="roundRect">
            <a:avLst>
              <a:gd name="adj" fmla="val 13158"/>
            </a:avLst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161288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simple PIR script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49047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Upload PIR Arduino code to ESP32 first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00253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Close Arduino IDE completely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2219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Run simple_pir.py in VS Code terminal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4414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Wave your hand in front of the sensor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64261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Goal: See Time | Score | Status printing in your terminal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27448" y="1051560"/>
            <a:ext cx="4114800" cy="1810512"/>
          </a:xfrm>
          <a:prstGeom prst="rect">
            <a:avLst/>
          </a:prstGeom>
          <a:solidFill>
            <a:srgbClr val="162032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64608" y="1143000"/>
            <a:ext cx="438912" cy="347472"/>
          </a:xfrm>
          <a:prstGeom prst="roundRect">
            <a:avLst>
              <a:gd name="adj" fmla="val 13158"/>
            </a:avLst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1143000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67528" y="1161288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loop counter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67528" y="149047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64608" y="17830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Add count = 0 before the while True loop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64608" y="200253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Inside the loop add: count = count + 1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64608" y="22219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Change print to include count in output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64608" y="24414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Watch the counter increase with every reading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64608" y="264261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Goal: Each line shows Reading #1, #2, #3 with motion data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2990088"/>
            <a:ext cx="4114800" cy="1810512"/>
          </a:xfrm>
          <a:prstGeom prst="rect">
            <a:avLst/>
          </a:prstGeom>
          <a:solidFill>
            <a:srgbClr val="162032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081528"/>
            <a:ext cx="438912" cy="347472"/>
          </a:xfrm>
          <a:prstGeom prst="roundRect">
            <a:avLst>
              <a:gd name="adj" fmla="val 13158"/>
            </a:avLst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081528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3099816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total motion events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342900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37216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Add motion_count = 0 before the loop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394106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Every time score &gt; 0 do: motion_count += 1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41605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Include motion_count in your print statement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437997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Think: what does this number tell you about the room?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458114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Goal: Track and display total motion events detected so far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27448" y="2990088"/>
            <a:ext cx="4114800" cy="1810512"/>
          </a:xfrm>
          <a:prstGeom prst="rect">
            <a:avLst/>
          </a:prstGeom>
          <a:solidFill>
            <a:srgbClr val="162032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64608" y="3081528"/>
            <a:ext cx="438912" cy="347472"/>
          </a:xfrm>
          <a:prstGeom prst="roundRect">
            <a:avLst>
              <a:gd name="adj" fmla="val 13158"/>
            </a:avLst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3081528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67528" y="3099816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own COM port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67528" y="342900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64608" y="37216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Write a new script from scratch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64608" y="394106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Use for port in list_ports.comports()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64608" y="41605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Print port.device and port.description for each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64608" y="437997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Identify the ESP32 from the CH340 description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864608" y="458114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Goal: Understand exactly how Python auto-detects COM5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Save motion events to a CSV file with timestamp and score — combine Week 1 and Week 2 skills!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2 COMPLETE!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learned this week through the PIR Motion Sensor: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2606040" cy="1115568"/>
          </a:xfrm>
          <a:prstGeom prst="rect">
            <a:avLst/>
          </a:prstGeom>
          <a:solidFill>
            <a:srgbClr val="162032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4475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While loops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562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 read()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176272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353312"/>
            <a:ext cx="2606040" cy="1115568"/>
          </a:xfrm>
          <a:prstGeom prst="rect">
            <a:avLst/>
          </a:prstGeom>
          <a:solidFill>
            <a:srgbClr val="162032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44475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For loops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18562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port in ports: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91840" y="2176272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1353312"/>
            <a:ext cx="2606040" cy="1115568"/>
          </a:xfrm>
          <a:prstGeom prst="rect">
            <a:avLst/>
          </a:prstGeom>
          <a:solidFill>
            <a:srgbClr val="162032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44475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Serial port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18562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serial.Serial(PORT,9600)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26480" y="2176272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615184"/>
            <a:ext cx="2606040" cy="1115568"/>
          </a:xfrm>
          <a:prstGeom prst="rect">
            <a:avLst/>
          </a:prstGeom>
          <a:solidFill>
            <a:srgbClr val="162032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0662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 String methods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11810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.decode().strip().split()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438144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54680" y="2615184"/>
            <a:ext cx="2606040" cy="1115568"/>
          </a:xfrm>
          <a:prstGeom prst="rect">
            <a:avLst/>
          </a:prstGeom>
          <a:solidFill>
            <a:srgbClr val="162032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70662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Try / Except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91840" y="311810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 ... except: pass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91840" y="3438144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89320" y="2615184"/>
            <a:ext cx="2606040" cy="1115568"/>
          </a:xfrm>
          <a:prstGeom prst="rect">
            <a:avLst/>
          </a:prstGeom>
          <a:solidFill>
            <a:srgbClr val="162032"/>
          </a:solidFill>
          <a:ln w="19050">
            <a:solidFill>
              <a:srgbClr val="7B2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270662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Auto port detect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26480" y="311810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"CH340" in description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26480" y="3438144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114800"/>
            <a:ext cx="8503920" cy="713232"/>
          </a:xfrm>
          <a:prstGeom prst="rect">
            <a:avLst/>
          </a:prstGeom>
          <a:solidFill>
            <a:srgbClr val="162032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Week 3: Lists, Functions &amp; CSV through the DHT11 Temperature Sensor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453542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store readings in a list, write reusable functions and save data to CSV for Excel analysis!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2026-05-24T06:22:15Z</dcterms:created>
  <dcterms:modified xsi:type="dcterms:W3CDTF">2026-05-24T06:22:15Z</dcterms:modified>
</cp:coreProperties>
</file>