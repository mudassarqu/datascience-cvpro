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64008"/>
            <a:ext cx="64008" cy="5084064"/>
          </a:xfrm>
          <a:prstGeom prst="rect">
            <a:avLst/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320040" y="228600"/>
            <a:ext cx="1280160" cy="457200"/>
          </a:xfrm>
          <a:prstGeom prst="roundRect">
            <a:avLst>
              <a:gd name="adj" fmla="val 24000"/>
            </a:avLst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228600"/>
            <a:ext cx="128016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5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320040" y="868680"/>
            <a:ext cx="85039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DATA ANALYSIS &amp; AI</a:t>
            </a:r>
            <a:endParaRPr lang="en-US" sz="3800" dirty="0"/>
          </a:p>
        </p:txBody>
      </p:sp>
      <p:sp>
        <p:nvSpPr>
          <p:cNvPr id="7" name="Text 5"/>
          <p:cNvSpPr/>
          <p:nvPr/>
        </p:nvSpPr>
        <p:spPr>
          <a:xfrm>
            <a:off x="320040" y="1719072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7B2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pandas, statistics and anomaly detection through ALL sensors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320040" y="233172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with ESP32 &amp; Python  |  Grade 8  |  FINAL WEEK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320040" y="283464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20040" y="28346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pandas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3154680" y="283464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154680" y="28346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read_csv()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5989320" y="2834640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5989320" y="2834640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Statistics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20040" y="34015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320040" y="3401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Anomaly Detection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3154680" y="34015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154680" y="3401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Visualise Analysis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5989320" y="3401568"/>
            <a:ext cx="2560320" cy="438912"/>
          </a:xfrm>
          <a:prstGeom prst="roundRect">
            <a:avLst>
              <a:gd name="adj" fmla="val 20833"/>
            </a:avLst>
          </a:prstGeom>
          <a:solidFill>
            <a:srgbClr val="162032"/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989320" y="3401568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AI Introduction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320040" y="4160520"/>
            <a:ext cx="8503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collected the data. Now you analyse it. This is what real data scientists do every single day!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1 — PANDAS &amp; read_csv()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is Python's most powerful data analysis library. pd.read_csv() loads your CSV file as a table in seconds!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pandas?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 turns your CSV file into a DataFrame — an intelligent table that can: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Calculate statistics instantly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Filter rows by condition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Sort by any column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Draw charts automatically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Handle thousands of rows in milliseconds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once: pip install pandas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402336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24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your CSV looks like as a DataFrame: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457200" y="3090672"/>
            <a:ext cx="3749040" cy="201168"/>
          </a:xfrm>
          <a:prstGeom prst="rect">
            <a:avLst/>
          </a:prstGeom>
          <a:solidFill>
            <a:srgbClr val="FFD700"/>
          </a:solidFill>
          <a:ln w="3810">
            <a:solidFill>
              <a:srgbClr val="FFD70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31181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time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1417320" y="31181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temperature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2331720" y="31181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humidity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3246120" y="31181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feels_like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7200" y="3319272"/>
            <a:ext cx="3749040" cy="201168"/>
          </a:xfrm>
          <a:prstGeom prst="rect">
            <a:avLst/>
          </a:prstGeom>
          <a:solidFill>
            <a:srgbClr val="0A1220"/>
          </a:solidFill>
          <a:ln w="3810">
            <a:solidFill>
              <a:srgbClr val="FFD70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502920" y="33467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18:25:10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1417320" y="33467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331720" y="33467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65.0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3246120" y="33467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57200" y="3547872"/>
            <a:ext cx="3749040" cy="201168"/>
          </a:xfrm>
          <a:prstGeom prst="rect">
            <a:avLst/>
          </a:prstGeom>
          <a:solidFill>
            <a:srgbClr val="162032"/>
          </a:solidFill>
          <a:ln w="3810">
            <a:solidFill>
              <a:srgbClr val="FFD7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02920" y="35753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18:25:11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1417320" y="35753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28.6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2331720" y="35753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64.8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3246120" y="35753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</a:t>
            </a:r>
            <a:endParaRPr lang="en-US" sz="900" dirty="0"/>
          </a:p>
        </p:txBody>
      </p:sp>
      <p:sp>
        <p:nvSpPr>
          <p:cNvPr id="25" name="Shape 23"/>
          <p:cNvSpPr/>
          <p:nvPr/>
        </p:nvSpPr>
        <p:spPr>
          <a:xfrm>
            <a:off x="457200" y="3776472"/>
            <a:ext cx="3749040" cy="201168"/>
          </a:xfrm>
          <a:prstGeom prst="rect">
            <a:avLst/>
          </a:prstGeom>
          <a:solidFill>
            <a:srgbClr val="0A1220"/>
          </a:solidFill>
          <a:ln w="3810">
            <a:solidFill>
              <a:srgbClr val="FFD70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02920" y="38039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18:25:12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1417320" y="38039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29.1</a:t>
            </a:r>
            <a:endParaRPr lang="en-US" sz="900" dirty="0"/>
          </a:p>
        </p:txBody>
      </p:sp>
      <p:sp>
        <p:nvSpPr>
          <p:cNvPr id="28" name="Text 26"/>
          <p:cNvSpPr/>
          <p:nvPr/>
        </p:nvSpPr>
        <p:spPr>
          <a:xfrm>
            <a:off x="2331720" y="38039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63.5</a:t>
            </a:r>
            <a:endParaRPr lang="en-US" sz="900" dirty="0"/>
          </a:p>
        </p:txBody>
      </p:sp>
      <p:sp>
        <p:nvSpPr>
          <p:cNvPr id="29" name="Text 27"/>
          <p:cNvSpPr/>
          <p:nvPr/>
        </p:nvSpPr>
        <p:spPr>
          <a:xfrm>
            <a:off x="3246120" y="38039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Warm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57200" y="4005072"/>
            <a:ext cx="3749040" cy="201168"/>
          </a:xfrm>
          <a:prstGeom prst="rect">
            <a:avLst/>
          </a:prstGeom>
          <a:solidFill>
            <a:srgbClr val="162032"/>
          </a:solidFill>
          <a:ln w="3810">
            <a:solidFill>
              <a:srgbClr val="FFD700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502920" y="40325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1417320" y="40325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2331720" y="40325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3246120" y="4032504"/>
            <a:ext cx="86868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...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Loading and exploring your sensor data</a:t>
            </a:r>
            <a:endParaRPr lang="en-US" sz="1300" dirty="0"/>
          </a:p>
        </p:txBody>
      </p:sp>
      <p:sp>
        <p:nvSpPr>
          <p:cNvPr id="36" name="Shape 34"/>
          <p:cNvSpPr/>
          <p:nvPr/>
        </p:nvSpPr>
        <p:spPr>
          <a:xfrm>
            <a:off x="4617720" y="1444752"/>
            <a:ext cx="4206240" cy="6071616"/>
          </a:xfrm>
          <a:prstGeom prst="rect">
            <a:avLst/>
          </a:prstGeom>
          <a:solidFill>
            <a:srgbClr val="0A1628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27448" y="18288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27448" y="213969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Load your sensor CSV file</a:t>
            </a:r>
            <a:endParaRPr lang="en-US" sz="1050" dirty="0"/>
          </a:p>
        </p:txBody>
      </p:sp>
      <p:sp>
        <p:nvSpPr>
          <p:cNvPr id="40" name="Text 38"/>
          <p:cNvSpPr/>
          <p:nvPr/>
        </p:nvSpPr>
        <p:spPr>
          <a:xfrm>
            <a:off x="4727448" y="24505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pd.read_csv("dht11_data.csv")</a:t>
            </a:r>
            <a:endParaRPr lang="en-US" sz="1050" dirty="0"/>
          </a:p>
        </p:txBody>
      </p:sp>
      <p:sp>
        <p:nvSpPr>
          <p:cNvPr id="41" name="Text 39"/>
          <p:cNvSpPr/>
          <p:nvPr/>
        </p:nvSpPr>
        <p:spPr>
          <a:xfrm>
            <a:off x="4727448" y="276148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2" name="Text 40"/>
          <p:cNvSpPr/>
          <p:nvPr/>
        </p:nvSpPr>
        <p:spPr>
          <a:xfrm>
            <a:off x="4727448" y="3072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First look at the data</a:t>
            </a:r>
            <a:endParaRPr lang="en-US" sz="1050" dirty="0"/>
          </a:p>
        </p:txBody>
      </p:sp>
      <p:sp>
        <p:nvSpPr>
          <p:cNvPr id="43" name="Text 41"/>
          <p:cNvSpPr/>
          <p:nvPr/>
        </p:nvSpPr>
        <p:spPr>
          <a:xfrm>
            <a:off x="4727448" y="338328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print(df.head())       # first 5 rows</a:t>
            </a:r>
            <a:endParaRPr lang="en-US" sz="1050" dirty="0"/>
          </a:p>
        </p:txBody>
      </p:sp>
      <p:sp>
        <p:nvSpPr>
          <p:cNvPr id="44" name="Text 42"/>
          <p:cNvSpPr/>
          <p:nvPr/>
        </p:nvSpPr>
        <p:spPr>
          <a:xfrm>
            <a:off x="4727448" y="369417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print(df.tail())       # last 5 rows</a:t>
            </a:r>
            <a:endParaRPr lang="en-US" sz="1050" dirty="0"/>
          </a:p>
        </p:txBody>
      </p:sp>
      <p:sp>
        <p:nvSpPr>
          <p:cNvPr id="45" name="Text 43"/>
          <p:cNvSpPr/>
          <p:nvPr/>
        </p:nvSpPr>
        <p:spPr>
          <a:xfrm>
            <a:off x="4727448" y="40050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print(df.shape)        # (rows, columns)</a:t>
            </a:r>
            <a:endParaRPr lang="en-US" sz="1050" dirty="0"/>
          </a:p>
        </p:txBody>
      </p:sp>
      <p:sp>
        <p:nvSpPr>
          <p:cNvPr id="46" name="Text 44"/>
          <p:cNvSpPr/>
          <p:nvPr/>
        </p:nvSpPr>
        <p:spPr>
          <a:xfrm>
            <a:off x="4727448" y="431596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print(df.columns)      # column names</a:t>
            </a:r>
            <a:endParaRPr lang="en-US" sz="1050" dirty="0"/>
          </a:p>
        </p:txBody>
      </p:sp>
      <p:sp>
        <p:nvSpPr>
          <p:cNvPr id="47" name="Text 45"/>
          <p:cNvSpPr/>
          <p:nvPr/>
        </p:nvSpPr>
        <p:spPr>
          <a:xfrm>
            <a:off x="4727448" y="46268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print(df.dtypes)       # data type of each column</a:t>
            </a:r>
            <a:endParaRPr lang="en-US" sz="1050" dirty="0"/>
          </a:p>
        </p:txBody>
      </p:sp>
      <p:sp>
        <p:nvSpPr>
          <p:cNvPr id="48" name="Text 46"/>
          <p:cNvSpPr/>
          <p:nvPr/>
        </p:nvSpPr>
        <p:spPr>
          <a:xfrm>
            <a:off x="4727448" y="493776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49" name="Text 47"/>
          <p:cNvSpPr/>
          <p:nvPr/>
        </p:nvSpPr>
        <p:spPr>
          <a:xfrm>
            <a:off x="4727448" y="524865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Access one column</a:t>
            </a:r>
            <a:endParaRPr lang="en-US" sz="1050" dirty="0"/>
          </a:p>
        </p:txBody>
      </p:sp>
      <p:sp>
        <p:nvSpPr>
          <p:cNvPr id="50" name="Text 48"/>
          <p:cNvSpPr/>
          <p:nvPr/>
        </p:nvSpPr>
        <p:spPr>
          <a:xfrm>
            <a:off x="4727448" y="555955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print(df["temperature"])        # all temp values</a:t>
            </a:r>
            <a:endParaRPr lang="en-US" sz="1050" dirty="0"/>
          </a:p>
        </p:txBody>
      </p:sp>
      <p:sp>
        <p:nvSpPr>
          <p:cNvPr id="51" name="Text 49"/>
          <p:cNvSpPr/>
          <p:nvPr/>
        </p:nvSpPr>
        <p:spPr>
          <a:xfrm>
            <a:off x="4727448" y="587044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print(df["temperature"][0])     # first temp reading</a:t>
            </a:r>
            <a:endParaRPr lang="en-US" sz="1050" dirty="0"/>
          </a:p>
        </p:txBody>
      </p:sp>
      <p:sp>
        <p:nvSpPr>
          <p:cNvPr id="52" name="Text 50"/>
          <p:cNvSpPr/>
          <p:nvPr/>
        </p:nvSpPr>
        <p:spPr>
          <a:xfrm>
            <a:off x="4727448" y="6181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53" name="Text 51"/>
          <p:cNvSpPr/>
          <p:nvPr/>
        </p:nvSpPr>
        <p:spPr>
          <a:xfrm>
            <a:off x="4727448" y="649224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Filter rows by condition</a:t>
            </a:r>
            <a:endParaRPr lang="en-US" sz="1050" dirty="0"/>
          </a:p>
        </p:txBody>
      </p:sp>
      <p:sp>
        <p:nvSpPr>
          <p:cNvPr id="54" name="Text 52"/>
          <p:cNvSpPr/>
          <p:nvPr/>
        </p:nvSpPr>
        <p:spPr>
          <a:xfrm>
            <a:off x="4727448" y="680313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hot = df[df["temperature"] &gt; 35]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4727448" y="711403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print(f"Hot readings: {len(hot)}")</a:t>
            </a:r>
            <a:endParaRPr lang="en-US" sz="1050" dirty="0"/>
          </a:p>
        </p:txBody>
      </p:sp>
      <p:sp>
        <p:nvSpPr>
          <p:cNvPr id="56" name="Shape 5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8" name="Text 56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 stands for DataFrame — the pandas name for a table. df["column"] gives you one column as a list of values!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2 — STATISTICS WITH SENSOR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Statistics turn raw readings into meaningful insights. Mean, max, min, std tell you the STORY of your data!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114800" cy="1261872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17043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1704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Average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1307592" y="1188720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mean()</a:t>
            </a:r>
            <a:endParaRPr lang="en-US" sz="1200" dirty="0"/>
          </a:p>
        </p:txBody>
      </p:sp>
      <p:sp>
        <p:nvSpPr>
          <p:cNvPr id="9" name="Text 7"/>
          <p:cNvSpPr/>
          <p:nvPr/>
        </p:nvSpPr>
        <p:spPr>
          <a:xfrm>
            <a:off x="457200" y="15179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 of all values divided by count. The typical temperature in your room today.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57200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df["temperature"].mean()</a:t>
            </a:r>
            <a:endParaRPr lang="en-US" sz="1050" dirty="0"/>
          </a:p>
        </p:txBody>
      </p:sp>
      <p:sp>
        <p:nvSpPr>
          <p:cNvPr id="11" name="Shape 9"/>
          <p:cNvSpPr/>
          <p:nvPr/>
        </p:nvSpPr>
        <p:spPr>
          <a:xfrm>
            <a:off x="4727448" y="1078992"/>
            <a:ext cx="4114800" cy="1261872"/>
          </a:xfrm>
          <a:prstGeom prst="rect">
            <a:avLst/>
          </a:prstGeom>
          <a:solidFill>
            <a:srgbClr val="162032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864608" y="117043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864608" y="11704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Maximum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715000" y="1188720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max()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4864608" y="15179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value recorded. What was the hottest moment in your classroom?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864608" y="20116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df["temperature"].max()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320040" y="2450592"/>
            <a:ext cx="4114800" cy="1261872"/>
          </a:xfrm>
          <a:prstGeom prst="rect">
            <a:avLst/>
          </a:prstGeom>
          <a:solidFill>
            <a:srgbClr val="162032"/>
          </a:solidFill>
          <a:ln w="19050">
            <a:solidFill>
              <a:srgbClr val="00BCD4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54203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00BCD4"/>
          </a:solidFill>
          <a:ln w="12700">
            <a:solidFill>
              <a:srgbClr val="00BCD4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5420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Minimum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1307592" y="2560320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min()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457200" y="28895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lowest value recorded. What was the coolest moment today?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57200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df["temperature"].min()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4727448" y="2450592"/>
            <a:ext cx="4114800" cy="1261872"/>
          </a:xfrm>
          <a:prstGeom prst="rect">
            <a:avLst/>
          </a:prstGeom>
          <a:solidFill>
            <a:srgbClr val="162032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864608" y="2542032"/>
            <a:ext cx="777240" cy="274320"/>
          </a:xfrm>
          <a:prstGeom prst="roundRect">
            <a:avLst>
              <a:gd name="adj" fmla="val 16667"/>
            </a:avLst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864608" y="2542032"/>
            <a:ext cx="7772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Std Dev</a:t>
            </a:r>
            <a:endParaRPr lang="en-US" sz="950" dirty="0"/>
          </a:p>
        </p:txBody>
      </p:sp>
      <p:sp>
        <p:nvSpPr>
          <p:cNvPr id="26" name="Text 24"/>
          <p:cNvSpPr/>
          <p:nvPr/>
        </p:nvSpPr>
        <p:spPr>
          <a:xfrm>
            <a:off x="5715000" y="2560320"/>
            <a:ext cx="2999232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std()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4864608" y="2889504"/>
            <a:ext cx="3840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much values vary from the mean. Low std = stable. High std = lots of change.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4864608" y="3383280"/>
            <a:ext cx="3840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df["temperature"].std()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320040" y="3913632"/>
            <a:ext cx="8503920" cy="1234440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457200" y="400507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magic function — describe() gives ALL stats at once: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457200" y="4343400"/>
            <a:ext cx="4114800" cy="786384"/>
          </a:xfrm>
          <a:prstGeom prst="rect">
            <a:avLst/>
          </a:prstGeom>
          <a:solidFill>
            <a:srgbClr val="0A1628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566928" y="4416552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print(df["temperature"].describe())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566928" y="4727448"/>
            <a:ext cx="389534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print(df.describe())  # all columns at once!</a:t>
            </a:r>
            <a:endParaRPr lang="en-US" sz="1050" dirty="0"/>
          </a:p>
        </p:txBody>
      </p:sp>
      <p:sp>
        <p:nvSpPr>
          <p:cNvPr id="34" name="Shape 32"/>
          <p:cNvSpPr/>
          <p:nvPr/>
        </p:nvSpPr>
        <p:spPr>
          <a:xfrm>
            <a:off x="4663440" y="4343400"/>
            <a:ext cx="4069080" cy="1719072"/>
          </a:xfrm>
          <a:prstGeom prst="rect">
            <a:avLst/>
          </a:prstGeom>
          <a:solidFill>
            <a:srgbClr val="0A1628"/>
          </a:solidFill>
          <a:ln w="19050">
            <a:solidFill>
              <a:srgbClr val="FFD700"/>
            </a:solidFill>
            <a:prstDash val="solid"/>
          </a:ln>
        </p:spPr>
      </p:sp>
      <p:sp>
        <p:nvSpPr>
          <p:cNvPr id="35" name="Text 33"/>
          <p:cNvSpPr/>
          <p:nvPr/>
        </p:nvSpPr>
        <p:spPr>
          <a:xfrm>
            <a:off x="4773168" y="4416552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count    120.0   # 120 readings taken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73168" y="4727448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     28.5   # average temperature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73168" y="5038344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       1.2   # small variation = stable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73168" y="5349240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       26.1   # coolest reading</a:t>
            </a:r>
            <a:endParaRPr lang="en-US" sz="1050" dirty="0"/>
          </a:p>
        </p:txBody>
      </p:sp>
      <p:sp>
        <p:nvSpPr>
          <p:cNvPr id="39" name="Text 37"/>
          <p:cNvSpPr/>
          <p:nvPr/>
        </p:nvSpPr>
        <p:spPr>
          <a:xfrm>
            <a:off x="4773168" y="5660136"/>
            <a:ext cx="384962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       31.4   # hottest reading</a:t>
            </a:r>
            <a:endParaRPr lang="en-US" sz="1050" dirty="0"/>
          </a:p>
        </p:txBody>
      </p:sp>
      <p:sp>
        <p:nvSpPr>
          <p:cNvPr id="40" name="Shape 38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df.describe() is the fastest way to understand any dataset. Always run this first when you load a new CSV!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CONCEPT 3 — ANOMALY DETECTION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anomaly is a reading that is UNUSUALLY different from the rest. Detecting anomalies is a core AI skill used worldwide!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97280"/>
            <a:ext cx="4023360" cy="1417320"/>
          </a:xfrm>
          <a:prstGeom prst="rect">
            <a:avLst/>
          </a:prstGeom>
          <a:solidFill>
            <a:srgbClr val="16203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88720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is an anomaly?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457200" y="1554480"/>
            <a:ext cx="37490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Imagine 60 temperature readings all around 28°C.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Suddenly one reads 45°C — then back to 28°C.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 spike is an ANOMALY. Something unusual happened.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Maybe someone opened a hot oven nearby.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AI systems detect anomalies to find: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Server crashes before they happen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Patient health deterioration in hospitals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Machine failures in factories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20040" y="2633472"/>
            <a:ext cx="4023360" cy="1371600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24912"/>
            <a:ext cx="3749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 Standard Deviations Rule: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457200" y="3090672"/>
            <a:ext cx="37490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reading is MORE than 2 standard deviations away from the mean — it is an anomaly.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 = 28.5,  std = 1.2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Upper limit = 28.5 + (2 x 1.2) = 30.9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Lower limit = 28.5 - (2 x 1.2) = 26.1</a:t>
            </a:r>
            <a:endParaRPr lang="en-US" sz="1200" dirty="0"/>
          </a:p>
          <a:p>
            <a:pPr indent="0" marL="0">
              <a:buNone/>
            </a:pP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Anything above 30.9 or below 26.1 = ANOMALY!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617720" y="1097280"/>
            <a:ext cx="42062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Anomaly detection on your sensor data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617720" y="1444752"/>
            <a:ext cx="4206240" cy="8247888"/>
          </a:xfrm>
          <a:prstGeom prst="rect">
            <a:avLst/>
          </a:prstGeom>
          <a:solidFill>
            <a:srgbClr val="0A1628"/>
          </a:solidFill>
          <a:ln w="19050">
            <a:solidFill>
              <a:srgbClr val="FF525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27448" y="15179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727448" y="182880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727448" y="213969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727448" y="245059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pd.read_csv("dht11_data.csv")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727448" y="276148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727448" y="307238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Calculate mean and standard deviation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727448" y="338328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 = df["temperature"].mean()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727448" y="369417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  = df["temperature"].std()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727448" y="400507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727448" y="431596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Flag anomalies (2 std dev rule)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727448" y="462686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df["anomaly"] = (df["temperature"] - mean).abs() &gt; 2 * std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727448" y="493776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727448" y="524865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Show anomaly rows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727448" y="555955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anomalies = df[df["anomaly"] == True]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727448" y="587044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print(f"Found {len(anomalies)} anomalies!")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727448" y="618134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print(anomalies[["time","temperature"]])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727448" y="649224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727448" y="680313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Visualise anomalies on graph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727448" y="711403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plt.plot(df["temperature"], color="cyan")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727448" y="742492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plt.scatter(anomalies.index, anomalies["temperature"],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727448" y="773582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color="red", s=80, zorder=5, label="Anomaly")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727448" y="8046720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plt.axhline(y=mean+2*std, color="orange", linestyle="--")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727448" y="8357616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98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plt.axhline(y=mean-2*std, color="orange", linestyle="--")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727448" y="8668512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plt.legend()</a:t>
            </a:r>
            <a:endParaRPr lang="en-US" sz="1050" dirty="0"/>
          </a:p>
        </p:txBody>
      </p:sp>
      <p:sp>
        <p:nvSpPr>
          <p:cNvPr id="37" name="Text 35"/>
          <p:cNvSpPr/>
          <p:nvPr/>
        </p:nvSpPr>
        <p:spPr>
          <a:xfrm>
            <a:off x="4727448" y="8979408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plt.title("Temperature Anomaly Detection")</a:t>
            </a:r>
            <a:endParaRPr lang="en-US" sz="1050" dirty="0"/>
          </a:p>
        </p:txBody>
      </p:sp>
      <p:sp>
        <p:nvSpPr>
          <p:cNvPr id="38" name="Text 36"/>
          <p:cNvSpPr/>
          <p:nvPr/>
        </p:nvSpPr>
        <p:spPr>
          <a:xfrm>
            <a:off x="4727448" y="9290304"/>
            <a:ext cx="39867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39" name="Shape 37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 dots on the graph = anomalies. Orange dashed lines = the 2 std dev boundaries. This is real AI/ML technique!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FULL DATA ANALYSIS SCRIPT — ALL SENSORS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this AFTER collecting data. It analyses your saved CSV and produces a professional report!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4663440" cy="9802368"/>
          </a:xfrm>
          <a:prstGeom prst="rect">
            <a:avLst/>
          </a:prstGeom>
          <a:solidFill>
            <a:srgbClr val="0A1628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29768" y="115214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pandas as pd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29768" y="146304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import matplotlib.pyplot as plt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29768" y="177393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29768" y="208483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Load your sensor data ───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29768" y="239572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 = pd.read_csv("dht11_data.csv")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29768" y="270662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print(f"Total readings: {len(df)}")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429768" y="301752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print(df.describe())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29768" y="332841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429768" y="363931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Statistics ───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429768" y="395020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mean_t = df["temperature"].mean()</a:t>
            </a:r>
            <a:endParaRPr lang="en-US" sz="1050" dirty="0"/>
          </a:p>
        </p:txBody>
      </p:sp>
      <p:sp>
        <p:nvSpPr>
          <p:cNvPr id="16" name="Text 14"/>
          <p:cNvSpPr/>
          <p:nvPr/>
        </p:nvSpPr>
        <p:spPr>
          <a:xfrm>
            <a:off x="429768" y="426110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max_t  = df["temperature"].max()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29768" y="457200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min_t  = df["temperature"].min()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429768" y="488289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7B2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std_t  = df["temperature"].std()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429768" y="519379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print(f"Mean: {mean_t:.1f}C  Max: {max_t:.1f}C  Min: {min_t:.1f}C")</a:t>
            </a:r>
            <a:endParaRPr lang="en-US" sz="1050" dirty="0"/>
          </a:p>
        </p:txBody>
      </p:sp>
      <p:sp>
        <p:nvSpPr>
          <p:cNvPr id="20" name="Text 18"/>
          <p:cNvSpPr/>
          <p:nvPr/>
        </p:nvSpPr>
        <p:spPr>
          <a:xfrm>
            <a:off x="429768" y="550468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429768" y="581558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Anomaly Detection ───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429768" y="612648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df["anomaly"] = (df["temperature"] - mean_t).abs() &gt; 2 * std_t</a:t>
            </a:r>
            <a:endParaRPr lang="en-US" sz="1050" dirty="0"/>
          </a:p>
        </p:txBody>
      </p:sp>
      <p:sp>
        <p:nvSpPr>
          <p:cNvPr id="23" name="Text 21"/>
          <p:cNvSpPr/>
          <p:nvPr/>
        </p:nvSpPr>
        <p:spPr>
          <a:xfrm>
            <a:off x="429768" y="643737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n_anom = df["anomaly"].sum()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429768" y="674827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print(f"Anomalies detected: {n_anom}")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429768" y="705916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29768" y="737006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A0AE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─── Visualise ───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429768" y="768096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E91E6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fig, (ax1,ax2,ax3) = plt.subplots(3,1,figsize=(12,10))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29768" y="799185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D7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ax1.plot(df["temperature"], color="orange")</a:t>
            </a:r>
            <a:endParaRPr lang="en-US" sz="1050" dirty="0"/>
          </a:p>
        </p:txBody>
      </p:sp>
      <p:sp>
        <p:nvSpPr>
          <p:cNvPr id="29" name="Text 27"/>
          <p:cNvSpPr/>
          <p:nvPr/>
        </p:nvSpPr>
        <p:spPr>
          <a:xfrm>
            <a:off x="429768" y="830275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ax1.set_title(f"Temperature — Mean:{mean_t:.1f}C")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29768" y="861364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BCD4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ax2.plot(df["humidity"], color="cyan")</a:t>
            </a:r>
            <a:endParaRPr lang="en-US" sz="1050" dirty="0"/>
          </a:p>
        </p:txBody>
      </p:sp>
      <p:sp>
        <p:nvSpPr>
          <p:cNvPr id="31" name="Text 29"/>
          <p:cNvSpPr/>
          <p:nvPr/>
        </p:nvSpPr>
        <p:spPr>
          <a:xfrm>
            <a:off x="429768" y="892454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ax2.set_title("Humidity %")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29768" y="9235440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ax3.scatter(df.index, df["temperature"], c=df["anomaly"].map({True:"red",False:"cyan"}))</a:t>
            </a:r>
            <a:endParaRPr lang="en-US" sz="1050" dirty="0"/>
          </a:p>
        </p:txBody>
      </p:sp>
      <p:sp>
        <p:nvSpPr>
          <p:cNvPr id="33" name="Text 31"/>
          <p:cNvSpPr/>
          <p:nvPr/>
        </p:nvSpPr>
        <p:spPr>
          <a:xfrm>
            <a:off x="429768" y="9546336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5252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ax3.set_title(f"Anomaly View — {n_anom} anomalies in red")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29768" y="9857232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plt.tight_layout()</a:t>
            </a:r>
            <a:endParaRPr lang="en-US" sz="1050" dirty="0"/>
          </a:p>
        </p:txBody>
      </p:sp>
      <p:sp>
        <p:nvSpPr>
          <p:cNvPr id="35" name="Text 33"/>
          <p:cNvSpPr/>
          <p:nvPr/>
        </p:nvSpPr>
        <p:spPr>
          <a:xfrm>
            <a:off x="429768" y="10168128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00E67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plt.savefig("sensor_report.png", dpi=150)</a:t>
            </a:r>
            <a:endParaRPr lang="en-US" sz="1050" dirty="0"/>
          </a:p>
        </p:txBody>
      </p:sp>
      <p:sp>
        <p:nvSpPr>
          <p:cNvPr id="36" name="Text 34"/>
          <p:cNvSpPr/>
          <p:nvPr/>
        </p:nvSpPr>
        <p:spPr>
          <a:xfrm>
            <a:off x="429768" y="10479024"/>
            <a:ext cx="4443984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00C2FF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plt.show()</a:t>
            </a:r>
            <a:endParaRPr lang="en-US" sz="1050" dirty="0"/>
          </a:p>
        </p:txBody>
      </p:sp>
      <p:sp>
        <p:nvSpPr>
          <p:cNvPr id="37" name="Shape 35"/>
          <p:cNvSpPr/>
          <p:nvPr/>
        </p:nvSpPr>
        <p:spPr>
          <a:xfrm>
            <a:off x="5120640" y="1152144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5193792" y="1188720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PANDAS — load CSV into DataFrame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5120640" y="1463040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5193792" y="1499616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DESCRIBE — all statistics in one call</a:t>
            </a:r>
            <a:endParaRPr lang="en-US" sz="1000" dirty="0"/>
          </a:p>
        </p:txBody>
      </p:sp>
      <p:sp>
        <p:nvSpPr>
          <p:cNvPr id="41" name="Shape 39"/>
          <p:cNvSpPr/>
          <p:nvPr/>
        </p:nvSpPr>
        <p:spPr>
          <a:xfrm>
            <a:off x="5120640" y="1773936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42" name="Text 40"/>
          <p:cNvSpPr/>
          <p:nvPr/>
        </p:nvSpPr>
        <p:spPr>
          <a:xfrm>
            <a:off x="5193792" y="1810512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STATISTICS — mean, max, min, std</a:t>
            </a:r>
            <a:endParaRPr lang="en-US" sz="1000" dirty="0"/>
          </a:p>
        </p:txBody>
      </p:sp>
      <p:sp>
        <p:nvSpPr>
          <p:cNvPr id="43" name="Shape 41"/>
          <p:cNvSpPr/>
          <p:nvPr/>
        </p:nvSpPr>
        <p:spPr>
          <a:xfrm>
            <a:off x="5120640" y="2706624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5193792" y="2743200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ANOMALY — flag readings 2+ std devs away</a:t>
            </a:r>
            <a:endParaRPr lang="en-US" sz="1000" dirty="0"/>
          </a:p>
        </p:txBody>
      </p:sp>
      <p:sp>
        <p:nvSpPr>
          <p:cNvPr id="45" name="Shape 43"/>
          <p:cNvSpPr/>
          <p:nvPr/>
        </p:nvSpPr>
        <p:spPr>
          <a:xfrm>
            <a:off x="5120640" y="3328416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5193792" y="3364992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SUBPLOTS — 3 stacked analysis graphs</a:t>
            </a:r>
            <a:endParaRPr lang="en-US" sz="1000" dirty="0"/>
          </a:p>
        </p:txBody>
      </p:sp>
      <p:sp>
        <p:nvSpPr>
          <p:cNvPr id="47" name="Shape 45"/>
          <p:cNvSpPr/>
          <p:nvPr/>
        </p:nvSpPr>
        <p:spPr>
          <a:xfrm>
            <a:off x="5120640" y="3950208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5193792" y="3986784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FF525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SCATTER — red dots mark anomalies</a:t>
            </a:r>
            <a:endParaRPr lang="en-US" sz="1000" dirty="0"/>
          </a:p>
        </p:txBody>
      </p:sp>
      <p:sp>
        <p:nvSpPr>
          <p:cNvPr id="49" name="Shape 47"/>
          <p:cNvSpPr/>
          <p:nvPr/>
        </p:nvSpPr>
        <p:spPr>
          <a:xfrm>
            <a:off x="5120640" y="4261104"/>
            <a:ext cx="3703320" cy="256032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50" name="Text 48"/>
          <p:cNvSpPr/>
          <p:nvPr/>
        </p:nvSpPr>
        <p:spPr>
          <a:xfrm>
            <a:off x="5193792" y="4297680"/>
            <a:ext cx="353872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SAVE — export graph as PNG image file</a:t>
            </a:r>
            <a:endParaRPr lang="en-US" sz="1000" dirty="0"/>
          </a:p>
        </p:txBody>
      </p:sp>
      <p:sp>
        <p:nvSpPr>
          <p:cNvPr id="51" name="Shape 49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53" name="Text 51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plt.savefig() exports your graph as a PNG image — share it with parents or include in your project report!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3716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AI INTRODUCTION — WHERE DO YOU GO FROM HERE?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320040" y="71323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have completed the full Data Science pipeline. Here is what comes next in your AI journey!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078992"/>
            <a:ext cx="8503920" cy="502920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115568"/>
            <a:ext cx="22860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completed Data Science pipeline: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57200" y="111556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57200" y="11155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(Arduino)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1572768" y="12070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1874520" y="111556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1874520" y="11155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(CSV)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2990088" y="12070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3291840" y="111556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3291840" y="11155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(strip/decode)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4407408" y="12070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4709160" y="111556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709160" y="11155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(pandas)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824728" y="12070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6126480" y="111556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6126480" y="11155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(matplotlib)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7242048" y="1207008"/>
            <a:ext cx="182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7543800" y="1115568"/>
            <a:ext cx="1188720" cy="384048"/>
          </a:xfrm>
          <a:prstGeom prst="roundRect">
            <a:avLst>
              <a:gd name="adj" fmla="val 14286"/>
            </a:avLst>
          </a:prstGeom>
          <a:solidFill>
            <a:srgbClr val="FF5252"/>
          </a:solidFill>
          <a:ln w="12700">
            <a:solidFill>
              <a:srgbClr val="FF5252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7543800" y="1115568"/>
            <a:ext cx="11887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Detect</a:t>
            </a:r>
            <a:endParaRPr lang="en-US" sz="900" dirty="0"/>
          </a:p>
          <a:p>
            <a:pPr algn="ctr" indent="0" marL="0">
              <a:buNone/>
            </a:pPr>
            <a:r>
              <a:rPr lang="en-US" sz="9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(anomalies)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0040" y="1755648"/>
            <a:ext cx="2697480" cy="1261872"/>
          </a:xfrm>
          <a:prstGeom prst="rect">
            <a:avLst/>
          </a:prstGeom>
          <a:solidFill>
            <a:srgbClr val="162032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29768" y="184708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🤖  Machine Learning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29768" y="2194560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scikit-learn to train models that PREDICT future sensor values based on patterns in your data.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3246120" y="1755648"/>
            <a:ext cx="2697480" cy="1261872"/>
          </a:xfrm>
          <a:prstGeom prst="rect">
            <a:avLst/>
          </a:prstGeom>
          <a:solidFill>
            <a:srgbClr val="162032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8" name="Text 26"/>
          <p:cNvSpPr/>
          <p:nvPr/>
        </p:nvSpPr>
        <p:spPr>
          <a:xfrm>
            <a:off x="3355848" y="184708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🧠  Neural Networks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3355848" y="2194560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learning models that can detect complex patterns — used in Tesla, Apple, Google every day.</a:t>
            </a:r>
            <a:endParaRPr lang="en-US" sz="1100" dirty="0"/>
          </a:p>
        </p:txBody>
      </p:sp>
      <p:sp>
        <p:nvSpPr>
          <p:cNvPr id="30" name="Shape 28"/>
          <p:cNvSpPr/>
          <p:nvPr/>
        </p:nvSpPr>
        <p:spPr>
          <a:xfrm>
            <a:off x="6172200" y="1755648"/>
            <a:ext cx="2697480" cy="1261872"/>
          </a:xfrm>
          <a:prstGeom prst="rect">
            <a:avLst/>
          </a:prstGeom>
          <a:solidFill>
            <a:srgbClr val="162032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6281928" y="184708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📊  Data Dashboards</a:t>
            </a:r>
            <a:endParaRPr lang="en-US" sz="1300" dirty="0"/>
          </a:p>
        </p:txBody>
      </p:sp>
      <p:sp>
        <p:nvSpPr>
          <p:cNvPr id="32" name="Text 30"/>
          <p:cNvSpPr/>
          <p:nvPr/>
        </p:nvSpPr>
        <p:spPr>
          <a:xfrm>
            <a:off x="6281928" y="2194560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Dash or Streamlit to build web dashboards — share live sensor data with anyone anywhere.</a:t>
            </a:r>
            <a:endParaRPr lang="en-US" sz="1100" dirty="0"/>
          </a:p>
        </p:txBody>
      </p:sp>
      <p:sp>
        <p:nvSpPr>
          <p:cNvPr id="33" name="Shape 31"/>
          <p:cNvSpPr/>
          <p:nvPr/>
        </p:nvSpPr>
        <p:spPr>
          <a:xfrm>
            <a:off x="320040" y="3172968"/>
            <a:ext cx="2697480" cy="1261872"/>
          </a:xfrm>
          <a:prstGeom prst="rect">
            <a:avLst/>
          </a:prstGeom>
          <a:solidFill>
            <a:srgbClr val="162032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429768" y="326440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🌐  IoT in the Cloud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429768" y="3611880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sensor data to AWS, Azure or Google Cloud — access readings from anywhere in the world.</a:t>
            </a:r>
            <a:endParaRPr lang="en-US" sz="1100" dirty="0"/>
          </a:p>
        </p:txBody>
      </p:sp>
      <p:sp>
        <p:nvSpPr>
          <p:cNvPr id="36" name="Shape 34"/>
          <p:cNvSpPr/>
          <p:nvPr/>
        </p:nvSpPr>
        <p:spPr>
          <a:xfrm>
            <a:off x="3246120" y="3172968"/>
            <a:ext cx="2697480" cy="1261872"/>
          </a:xfrm>
          <a:prstGeom prst="rect">
            <a:avLst/>
          </a:prstGeom>
          <a:solidFill>
            <a:srgbClr val="162032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3355848" y="326440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🔮  Predictive AI</a:t>
            </a:r>
            <a:endParaRPr lang="en-US" sz="1300" dirty="0"/>
          </a:p>
        </p:txBody>
      </p:sp>
      <p:sp>
        <p:nvSpPr>
          <p:cNvPr id="38" name="Text 36"/>
          <p:cNvSpPr/>
          <p:nvPr/>
        </p:nvSpPr>
        <p:spPr>
          <a:xfrm>
            <a:off x="3355848" y="3611880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a model to predict rain from humidity trends — or fever from temperature patterns.</a:t>
            </a:r>
            <a:endParaRPr lang="en-US" sz="1100" dirty="0"/>
          </a:p>
        </p:txBody>
      </p:sp>
      <p:sp>
        <p:nvSpPr>
          <p:cNvPr id="39" name="Shape 37"/>
          <p:cNvSpPr/>
          <p:nvPr/>
        </p:nvSpPr>
        <p:spPr>
          <a:xfrm>
            <a:off x="6172200" y="3172968"/>
            <a:ext cx="2697480" cy="1261872"/>
          </a:xfrm>
          <a:prstGeom prst="rect">
            <a:avLst/>
          </a:prstGeom>
          <a:solidFill>
            <a:srgbClr val="162032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40" name="Text 38"/>
          <p:cNvSpPr/>
          <p:nvPr/>
        </p:nvSpPr>
        <p:spPr>
          <a:xfrm>
            <a:off x="6281928" y="3264408"/>
            <a:ext cx="2487168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D7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🏆  Your Own Projects</a:t>
            </a:r>
            <a:endParaRPr lang="en-US" sz="1300" dirty="0"/>
          </a:p>
        </p:txBody>
      </p:sp>
      <p:sp>
        <p:nvSpPr>
          <p:cNvPr id="41" name="Text 39"/>
          <p:cNvSpPr/>
          <p:nvPr/>
        </p:nvSpPr>
        <p:spPr>
          <a:xfrm>
            <a:off x="6281928" y="3611880"/>
            <a:ext cx="2487168" cy="7498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home, environmental monitor, health tracker — you now have all the skills to build it!</a:t>
            </a:r>
            <a:endParaRPr lang="en-US" sz="1100" dirty="0"/>
          </a:p>
        </p:txBody>
      </p:sp>
      <p:sp>
        <p:nvSpPr>
          <p:cNvPr id="42" name="Shape 40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320040" y="4736592"/>
            <a:ext cx="8503920" cy="2926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44" name="Text 42"/>
          <p:cNvSpPr/>
          <p:nvPr/>
        </p:nvSpPr>
        <p:spPr>
          <a:xfrm>
            <a:off x="411480" y="4754880"/>
            <a:ext cx="832104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started with a light sensor. You can end with a real AI system. The journey from sensor to AI takes exactly these 5 weeks!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109728"/>
            <a:ext cx="85039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COURSE COMPLETE!</a:t>
            </a:r>
            <a:endParaRPr lang="en-US" sz="3800" dirty="0"/>
          </a:p>
        </p:txBody>
      </p:sp>
      <p:sp>
        <p:nvSpPr>
          <p:cNvPr id="4" name="Text 2"/>
          <p:cNvSpPr/>
          <p:nvPr/>
        </p:nvSpPr>
        <p:spPr>
          <a:xfrm>
            <a:off x="320040" y="804672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5 WEEKS — Everything you learned in this Data Science course: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261872"/>
            <a:ext cx="8503920" cy="676656"/>
          </a:xfrm>
          <a:prstGeom prst="rect">
            <a:avLst/>
          </a:prstGeom>
          <a:solidFill>
            <a:srgbClr val="162032"/>
          </a:solidFill>
          <a:ln w="19050">
            <a:solidFill>
              <a:srgbClr val="00C2FF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457200" y="1353312"/>
            <a:ext cx="822960" cy="475488"/>
          </a:xfrm>
          <a:prstGeom prst="roundRect">
            <a:avLst>
              <a:gd name="adj" fmla="val 11538"/>
            </a:avLst>
          </a:prstGeom>
          <a:solidFill>
            <a:srgbClr val="00C2FF"/>
          </a:solidFill>
          <a:ln w="12700">
            <a:solidFill>
              <a:srgbClr val="00C2FF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7200" y="1353312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1</a:t>
            </a:r>
            <a:endParaRPr lang="en-US" sz="1000" dirty="0"/>
          </a:p>
        </p:txBody>
      </p:sp>
      <p:sp>
        <p:nvSpPr>
          <p:cNvPr id="8" name="Text 6"/>
          <p:cNvSpPr/>
          <p:nvPr/>
        </p:nvSpPr>
        <p:spPr>
          <a:xfrm>
            <a:off x="1371600" y="1380744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C2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371600" y="1636776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Light Sensor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127248" y="1444752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Variables, Data Types, Print, Imports, If/Else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20040" y="2011680"/>
            <a:ext cx="8503920" cy="676656"/>
          </a:xfrm>
          <a:prstGeom prst="rect">
            <a:avLst/>
          </a:prstGeom>
          <a:solidFill>
            <a:srgbClr val="162032"/>
          </a:solidFill>
          <a:ln w="19050">
            <a:solidFill>
              <a:srgbClr val="00E676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457200" y="2103120"/>
            <a:ext cx="822960" cy="475488"/>
          </a:xfrm>
          <a:prstGeom prst="roundRect">
            <a:avLst>
              <a:gd name="adj" fmla="val 11538"/>
            </a:avLst>
          </a:prstGeom>
          <a:solidFill>
            <a:srgbClr val="00E676"/>
          </a:solidFill>
          <a:ln w="12700">
            <a:solidFill>
              <a:srgbClr val="00E67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57200" y="2103120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2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1371600" y="2130552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0E67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Loops &amp; Serial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371600" y="2386584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PIR Motion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127248" y="2194560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While/For loops, Serial port, String methods, Try/Except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20040" y="2761488"/>
            <a:ext cx="8503920" cy="676656"/>
          </a:xfrm>
          <a:prstGeom prst="rect">
            <a:avLst/>
          </a:prstGeom>
          <a:solidFill>
            <a:srgbClr val="162032"/>
          </a:solidFill>
          <a:ln w="19050">
            <a:solidFill>
              <a:srgbClr val="FF9800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57200" y="2852928"/>
            <a:ext cx="822960" cy="475488"/>
          </a:xfrm>
          <a:prstGeom prst="roundRect">
            <a:avLst>
              <a:gd name="adj" fmla="val 11538"/>
            </a:avLst>
          </a:prstGeom>
          <a:solidFill>
            <a:srgbClr val="FF9800"/>
          </a:solidFill>
          <a:ln w="12700">
            <a:solidFill>
              <a:srgbClr val="FF980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457200" y="2852928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3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1371600" y="2880360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98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 &amp; Functions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71600" y="3136392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DHT11 Temp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3127248" y="2944368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Lists, Functions, Parameters, CSV writing, File handling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320040" y="3511296"/>
            <a:ext cx="8503920" cy="676656"/>
          </a:xfrm>
          <a:prstGeom prst="rect">
            <a:avLst/>
          </a:prstGeom>
          <a:solidFill>
            <a:srgbClr val="162032"/>
          </a:solidFill>
          <a:ln w="19050">
            <a:solidFill>
              <a:srgbClr val="E91E63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457200" y="3602736"/>
            <a:ext cx="822960" cy="475488"/>
          </a:xfrm>
          <a:prstGeom prst="roundRect">
            <a:avLst>
              <a:gd name="adj" fmla="val 11538"/>
            </a:avLst>
          </a:prstGeom>
          <a:solidFill>
            <a:srgbClr val="E91E63"/>
          </a:solidFill>
          <a:ln w="12700">
            <a:solidFill>
              <a:srgbClr val="E91E63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57200" y="3602736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4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1371600" y="3630168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E91E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Graphs &amp; Viz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1371600" y="3886200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ALL Sensors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127248" y="3694176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matplotlib, FuncAnimation, Colors, Thresholds, Subplots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320040" y="4261104"/>
            <a:ext cx="8503920" cy="676656"/>
          </a:xfrm>
          <a:prstGeom prst="rect">
            <a:avLst/>
          </a:prstGeom>
          <a:solidFill>
            <a:srgbClr val="162032"/>
          </a:solidFill>
          <a:ln w="19050">
            <a:solidFill>
              <a:srgbClr val="7B2FFF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457200" y="4352544"/>
            <a:ext cx="822960" cy="475488"/>
          </a:xfrm>
          <a:prstGeom prst="roundRect">
            <a:avLst>
              <a:gd name="adj" fmla="val 11538"/>
            </a:avLst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  <p:sp>
        <p:nvSpPr>
          <p:cNvPr id="31" name="Text 29"/>
          <p:cNvSpPr/>
          <p:nvPr/>
        </p:nvSpPr>
        <p:spPr>
          <a:xfrm>
            <a:off x="457200" y="4352544"/>
            <a:ext cx="8229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0D1B2A"/>
                </a:solidFill>
                <a:latin typeface="Arial Black" pitchFamily="34" charset="0"/>
                <a:ea typeface="Arial Black" pitchFamily="34" charset="-122"/>
                <a:cs typeface="Arial Black" pitchFamily="34" charset="-120"/>
              </a:rPr>
              <a:t>Week 5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1371600" y="4379976"/>
            <a:ext cx="1645920" cy="23774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B2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Analysis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1371600" y="4636008"/>
            <a:ext cx="1645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through ALL Sensors</a:t>
            </a:r>
            <a:endParaRPr lang="en-US" sz="1000" dirty="0"/>
          </a:p>
        </p:txBody>
      </p:sp>
      <p:sp>
        <p:nvSpPr>
          <p:cNvPr id="34" name="Text 32"/>
          <p:cNvSpPr/>
          <p:nvPr/>
        </p:nvSpPr>
        <p:spPr>
          <a:xfrm>
            <a:off x="3127248" y="4443984"/>
            <a:ext cx="557784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EC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pandas, Statistics, Anomaly Detection, AI Introduction</a:t>
            </a:r>
            <a:endParaRPr lang="en-US" sz="1100" dirty="0"/>
          </a:p>
        </p:txBody>
      </p:sp>
      <p:sp>
        <p:nvSpPr>
          <p:cNvPr id="35" name="Shape 33"/>
          <p:cNvSpPr/>
          <p:nvPr/>
        </p:nvSpPr>
        <p:spPr>
          <a:xfrm>
            <a:off x="320040" y="5029200"/>
            <a:ext cx="8503920" cy="91440"/>
          </a:xfrm>
          <a:prstGeom prst="rect">
            <a:avLst/>
          </a:prstGeom>
          <a:solidFill>
            <a:srgbClr val="FFD700"/>
          </a:solidFill>
          <a:ln w="12700">
            <a:solidFill>
              <a:srgbClr val="FFD70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0" y="5074920"/>
            <a:ext cx="9144000" cy="64008"/>
          </a:xfrm>
          <a:prstGeom prst="rect">
            <a:avLst/>
          </a:prstGeom>
          <a:solidFill>
            <a:srgbClr val="7B2FFF"/>
          </a:solidFill>
          <a:ln w="12700">
            <a:solidFill>
              <a:srgbClr val="7B2FFF"/>
            </a:solidFill>
            <a:prstDash val="solid"/>
          </a:ln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2026-05-24T06:45:21Z</dcterms:created>
  <dcterms:modified xsi:type="dcterms:W3CDTF">2026-05-24T06:45:21Z</dcterms:modified>
</cp:coreProperties>
</file>